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8" r:id="rId13"/>
    <p:sldId id="26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35D675-1F46-4B87-A5F8-67DB0C31E2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04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221" y="1133061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MINDFUL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Powered Mental Health Support Platform for Students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453" y="3747052"/>
            <a:ext cx="9079464" cy="3031435"/>
          </a:xfrm>
        </p:spPr>
        <p:txBody>
          <a:bodyPr>
            <a:normAutofit fontScale="625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                  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>
              <a:lnSpc>
                <a:spcPts val="2399"/>
              </a:lnSpc>
            </a:pPr>
            <a:r>
              <a:rPr lang="en-US" sz="2800" dirty="0" err="1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Prof.Shahida</a:t>
            </a:r>
            <a:r>
              <a:rPr lang="en-US" sz="28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 Khan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29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Nandani </a:t>
            </a:r>
            <a:r>
              <a:rPr lang="en-US" sz="2900" dirty="0" err="1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Chourasiya</a:t>
            </a:r>
            <a:r>
              <a:rPr lang="en-US" sz="29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 (0827IT231090)</a:t>
            </a:r>
          </a:p>
          <a:p>
            <a:pPr algn="r">
              <a:lnSpc>
                <a:spcPct val="17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   </a:t>
            </a:r>
            <a:r>
              <a:rPr lang="en-US" sz="28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Piyush </a:t>
            </a:r>
            <a:r>
              <a:rPr lang="en-US" sz="2800" dirty="0" err="1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Ghoshi</a:t>
            </a:r>
            <a:r>
              <a:rPr lang="en-US" sz="28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 (0827IT231098)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  </a:t>
            </a:r>
            <a:r>
              <a:rPr lang="en-US" sz="28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Sayed Ozair Mehmood (0827IT231122) 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   </a:t>
            </a:r>
            <a:r>
              <a:rPr lang="en-US" sz="2800" dirty="0">
                <a:solidFill>
                  <a:srgbClr val="595959"/>
                </a:solidFill>
                <a:latin typeface="Palatino"/>
                <a:ea typeface="Palatino"/>
                <a:cs typeface="Palatino"/>
                <a:sym typeface="Palatino"/>
              </a:rPr>
              <a:t>Yash Jhanwar (0827IT231149)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1.2</a:t>
            </a:r>
            <a:r>
              <a:rPr lang="en-IN" dirty="0"/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Proposed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Theoretical Analysis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6.1</a:t>
            </a:r>
            <a:r>
              <a:rPr lang="en-IN" dirty="0"/>
              <a:t> Architecture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6.2</a:t>
            </a:r>
            <a:r>
              <a:rPr lang="en-IN" dirty="0"/>
              <a:t> Hardware Requirements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6.3</a:t>
            </a:r>
            <a:r>
              <a:rPr lang="en-IN" dirty="0"/>
              <a:t> Software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Applications </a:t>
            </a:r>
          </a:p>
          <a:p>
            <a:pPr marL="0" indent="0">
              <a:buNone/>
            </a:pPr>
            <a:r>
              <a:rPr lang="en-IN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9131" y="1535784"/>
            <a:ext cx="8915400" cy="466824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200" dirty="0"/>
              <a:t>1.1 Overview</a:t>
            </a:r>
          </a:p>
          <a:p>
            <a:pPr lvl="1"/>
            <a:r>
              <a:rPr lang="en-US" sz="2600" dirty="0"/>
              <a:t>MINDFUL is an AI-powered </a:t>
            </a:r>
            <a:r>
              <a:rPr lang="en-US" sz="2600" b="1" dirty="0"/>
              <a:t>mental health support platform</a:t>
            </a:r>
            <a:r>
              <a:rPr lang="en-US" sz="2600" dirty="0"/>
              <a:t> designed specifically for students, providing </a:t>
            </a:r>
            <a:r>
              <a:rPr lang="en-US" sz="2600" b="1" dirty="0"/>
              <a:t>24/7 chatbot support</a:t>
            </a:r>
            <a:r>
              <a:rPr lang="en-US" sz="2600" dirty="0"/>
              <a:t> and </a:t>
            </a:r>
            <a:r>
              <a:rPr lang="en-US" sz="2600" b="1" dirty="0"/>
              <a:t>mood tracking</a:t>
            </a:r>
            <a:r>
              <a:rPr lang="en-US" sz="2600" dirty="0"/>
              <a:t>.</a:t>
            </a:r>
          </a:p>
          <a:p>
            <a:pPr lvl="1"/>
            <a:r>
              <a:rPr lang="en-US" sz="2600" dirty="0"/>
              <a:t>Provides </a:t>
            </a:r>
            <a:r>
              <a:rPr lang="en-US" sz="2600" b="1" dirty="0"/>
              <a:t>AI-based emotion detection</a:t>
            </a:r>
            <a:r>
              <a:rPr lang="en-US" sz="2600" dirty="0"/>
              <a:t> and counselor recommendations for early intervention.</a:t>
            </a:r>
          </a:p>
          <a:p>
            <a:pPr lvl="1"/>
            <a:r>
              <a:rPr lang="en-US" sz="2600" dirty="0"/>
              <a:t>Includes </a:t>
            </a:r>
            <a:r>
              <a:rPr lang="en-US" sz="2600" b="1" dirty="0"/>
              <a:t>crisis detection</a:t>
            </a:r>
            <a:r>
              <a:rPr lang="en-US" sz="2600" dirty="0"/>
              <a:t> and </a:t>
            </a:r>
            <a:r>
              <a:rPr lang="en-US" sz="2600" b="1" dirty="0"/>
              <a:t>escalation</a:t>
            </a:r>
            <a:r>
              <a:rPr lang="en-US" sz="2600" dirty="0"/>
              <a:t>, online appointment scheduling, wellness reporting, and a community support forum.</a:t>
            </a:r>
          </a:p>
          <a:p>
            <a:pPr lvl="1"/>
            <a:r>
              <a:rPr lang="en-US" sz="2600" dirty="0"/>
              <a:t>Leverages </a:t>
            </a:r>
            <a:r>
              <a:rPr lang="en-US" sz="2600" b="1" dirty="0"/>
              <a:t>NLP models such as BERT and RoBERTa</a:t>
            </a:r>
            <a:r>
              <a:rPr lang="en-US" sz="2600" dirty="0"/>
              <a:t> to identify emotional distress and offer personalized assistance, with a gamification and reward system to boost engagement.</a:t>
            </a:r>
          </a:p>
          <a:p>
            <a:pPr lvl="1"/>
            <a:endParaRPr lang="en-IN" sz="2600" dirty="0"/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Times New Roman" panose="02020603050405020304" pitchFamily="18" charset="0"/>
              </a:rPr>
              <a:t>1.2 Purpose</a:t>
            </a:r>
          </a:p>
          <a:p>
            <a:pPr lvl="1"/>
            <a:r>
              <a:rPr lang="en-US" sz="2600" dirty="0">
                <a:solidFill>
                  <a:srgbClr val="000000"/>
                </a:solidFill>
              </a:rPr>
              <a:t> </a:t>
            </a:r>
            <a:r>
              <a:rPr lang="en-US" sz="2600" dirty="0"/>
              <a:t>Provide accessible, round-the-clock mental health support to students.</a:t>
            </a:r>
          </a:p>
          <a:p>
            <a:pPr lvl="1"/>
            <a:r>
              <a:rPr lang="en-US" sz="2600" dirty="0"/>
              <a:t>Detect emotional distress at an early stage and offer personalized wellness recommendations.</a:t>
            </a:r>
          </a:p>
          <a:p>
            <a:pPr lvl="1"/>
            <a:r>
              <a:rPr lang="en-US" sz="2600" dirty="0"/>
              <a:t>Connect students with professional counselors and reduce the stigma surrounding mental health.</a:t>
            </a:r>
          </a:p>
          <a:p>
            <a:pPr lvl="1"/>
            <a:r>
              <a:rPr lang="en-US" sz="2600" dirty="0"/>
              <a:t>Enable timely intervention during crisis situations and promote continuous emotional well-being.</a:t>
            </a:r>
            <a:endParaRPr lang="en-US" sz="2600" dirty="0">
              <a:solidFill>
                <a:srgbClr val="000000"/>
              </a:solidFill>
            </a:endParaRPr>
          </a:p>
          <a:p>
            <a:endParaRPr lang="en-IN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4662" y="103249"/>
            <a:ext cx="6713121" cy="1181541"/>
          </a:xfrm>
        </p:spPr>
        <p:txBody>
          <a:bodyPr/>
          <a:lstStyle/>
          <a:p>
            <a:r>
              <a:rPr lang="en-IN" dirty="0"/>
              <a:t>2. 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820035"/>
              </p:ext>
            </p:extLst>
          </p:nvPr>
        </p:nvGraphicFramePr>
        <p:xfrm>
          <a:off x="1701675" y="694020"/>
          <a:ext cx="8727117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10">
                <a:tc>
                  <a:txBody>
                    <a:bodyPr/>
                    <a:lstStyle/>
                    <a:p>
                      <a: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 of Solution/System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Limitations/</a:t>
                      </a:r>
                    </a:p>
                    <a:p>
                      <a:r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722">
                <a:tc>
                  <a:txBody>
                    <a:bodyPr/>
                    <a:lstStyle/>
                    <a:p>
                      <a: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Counseling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Personalized, in-depth professional guidance with trained counselors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availability; long waiting times; high cost; lack of 24/7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4462">
                <a:tc>
                  <a:txBody>
                    <a:bodyPr/>
                    <a:lstStyle/>
                    <a:p>
                      <a: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 Mood Tracking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 self-monitoring of mood and habits over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AI-based analysis; lacks intervention or counselor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983">
                <a:tc>
                  <a:txBody>
                    <a:bodyPr/>
                    <a:lstStyle/>
                    <a:p>
                      <a: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Rule-Based Mental Health Chatbots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Provides scripted responses for common mental health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Inflexible; cannot understand context; fails for complex emotional states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4722">
                <a:tc>
                  <a:txBody>
                    <a:bodyPr/>
                    <a:lstStyle/>
                    <a:p>
                      <a: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Mental Health Assistants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Uses NLP and ML for emotion detection and personalized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large training data; risk models still need refinement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73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/>
          </a:bodyPr>
          <a:lstStyle/>
          <a:p>
            <a:r>
              <a:rPr lang="en-US" dirty="0"/>
              <a:t>Limited availability of counselors leads to delayed support for students in need.</a:t>
            </a:r>
          </a:p>
          <a:p>
            <a:r>
              <a:rPr lang="en-US" dirty="0"/>
              <a:t>Lack of 24/7 support means students cannot get help during emotional crises outside office hours.</a:t>
            </a:r>
          </a:p>
          <a:p>
            <a:r>
              <a:rPr lang="en-US" dirty="0"/>
              <a:t>Delayed identification of mental health risks and absence of continuous emotional monitoring.</a:t>
            </a:r>
            <a:endParaRPr lang="en-IN" dirty="0"/>
          </a:p>
          <a:p>
            <a:r>
              <a:rPr lang="en-US" dirty="0"/>
              <a:t>Poor integration of AI-driven intervention results in insufficient personalized support for students.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4592"/>
            <a:ext cx="8911687" cy="1280890"/>
          </a:xfrm>
        </p:spPr>
        <p:txBody>
          <a:bodyPr/>
          <a:lstStyle/>
          <a:p>
            <a:r>
              <a:rPr lang="en-IN" dirty="0"/>
              <a:t>4. 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US" dirty="0"/>
              <a:t>Develop an AI-driven mental health ecosystem that provides real-time emotional support to students.</a:t>
            </a:r>
          </a:p>
          <a:p>
            <a:r>
              <a:rPr lang="en-US" dirty="0"/>
              <a:t>Use </a:t>
            </a:r>
            <a:r>
              <a:rPr lang="en-US" b="1" dirty="0"/>
              <a:t>NLP-based </a:t>
            </a:r>
            <a:r>
              <a:rPr lang="en-US" b="1" dirty="0" err="1"/>
              <a:t>emotion recognition</a:t>
            </a:r>
            <a:r>
              <a:rPr lang="en-US" dirty="0"/>
              <a:t> to continuously track mood patterns and assess mental health risk.</a:t>
            </a:r>
          </a:p>
          <a:p>
            <a:r>
              <a:rPr lang="en-US" dirty="0"/>
              <a:t>Recommend </a:t>
            </a:r>
            <a:r>
              <a:rPr lang="en-US" b="1" dirty="0"/>
              <a:t>counselors intelligently</a:t>
            </a:r>
            <a:r>
              <a:rPr lang="en-US" dirty="0"/>
              <a:t> based on detected risk levels and student needs for timely intervention.</a:t>
            </a:r>
          </a:p>
          <a:p>
            <a:r>
              <a:rPr lang="en-US" dirty="0"/>
              <a:t>Support emergency crisis management and escalation, while generating </a:t>
            </a:r>
            <a:r>
              <a:rPr lang="en-US" b="1" dirty="0"/>
              <a:t>wellness reports</a:t>
            </a:r>
            <a:r>
              <a:rPr lang="en-US" dirty="0"/>
              <a:t> for students and counselors.</a:t>
            </a:r>
          </a:p>
          <a:p>
            <a:r>
              <a:rPr lang="en-US" dirty="0"/>
              <a:t>Encourage engagement through a community support forum and a gamification and reward system.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67823"/>
            <a:ext cx="8911687" cy="1280890"/>
          </a:xfrm>
        </p:spPr>
        <p:txBody>
          <a:bodyPr/>
          <a:lstStyle/>
          <a:p>
            <a:r>
              <a:rPr lang="en-IN" dirty="0"/>
              <a:t>5.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6629" y="1598242"/>
            <a:ext cx="8915400" cy="4432168"/>
          </a:xfrm>
        </p:spPr>
        <p:txBody>
          <a:bodyPr/>
          <a:lstStyle/>
          <a:p>
            <a:r>
              <a:rPr lang="en-US" dirty="0"/>
              <a:t>To develop an AI-powered mental health support platform for students.</a:t>
            </a:r>
          </a:p>
          <a:p>
            <a:r>
              <a:rPr lang="en-US" dirty="0"/>
              <a:t>To implement </a:t>
            </a:r>
            <a:r>
              <a:rPr lang="en-US" dirty="0" err="1"/>
              <a:t>NLP-based emotion detection</a:t>
            </a:r>
            <a:r>
              <a:rPr lang="en-US" dirty="0"/>
              <a:t> for early identification of emotional distress.</a:t>
            </a:r>
          </a:p>
          <a:p>
            <a:r>
              <a:rPr lang="en-US" dirty="0"/>
              <a:t>To enable mood tracking and behavioral analytics for continuous wellness monitoring.</a:t>
            </a:r>
          </a:p>
          <a:p>
            <a:r>
              <a:rPr lang="en-US" dirty="0"/>
              <a:t>To provide personalized counselor recommendations and facilitate secure appointment booking.</a:t>
            </a:r>
          </a:p>
          <a:p>
            <a:r>
              <a:rPr lang="en-US" dirty="0"/>
              <a:t>To detect and manage crisis situations, improving overall student well-being.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6.1 Architecture </a:t>
            </a:r>
            <a:r>
              <a:rPr lang="en-US" dirty="0"/>
              <a:t>                                                      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734300" y="2202180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262" y="1264555"/>
            <a:ext cx="6129169" cy="559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0154" y="1458409"/>
            <a:ext cx="8915400" cy="4676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6.2 Hardware Requirements</a:t>
            </a:r>
          </a:p>
          <a:p>
            <a:pPr lvl="1"/>
            <a:r>
              <a:rPr lang="en-US" b="1" dirty="0"/>
              <a:t>Processor:</a:t>
            </a:r>
            <a:r>
              <a:rPr lang="en-US" dirty="0"/>
              <a:t> Intel i5 / AMD Ryzen 5 or higher (Recommended for AI model processing).</a:t>
            </a:r>
          </a:p>
          <a:p>
            <a:pPr lvl="1"/>
            <a:r>
              <a:rPr lang="en-IN" b="1" dirty="0"/>
              <a:t>RAM: </a:t>
            </a:r>
            <a:r>
              <a:rPr lang="en-IN" dirty="0"/>
              <a:t>8 GB minimum (Recommended: 16 GB for smoother AI inference and multitasking).</a:t>
            </a:r>
          </a:p>
          <a:p>
            <a:pPr lvl="1"/>
            <a:r>
              <a:rPr lang="en-IN" b="1" dirty="0"/>
              <a:t>Storage:</a:t>
            </a:r>
            <a:r>
              <a:rPr lang="en-IN" dirty="0"/>
              <a:t> 20 GB free space (for application data, logs, and model files). </a:t>
            </a:r>
          </a:p>
          <a:p>
            <a:pPr lvl="1"/>
            <a:r>
              <a:rPr lang="en-US" b="1" dirty="0"/>
              <a:t>System Type</a:t>
            </a:r>
            <a:r>
              <a:rPr lang="en-US" dirty="0"/>
              <a:t>: Desktop/Laptop with a stable broadband internet connection.</a:t>
            </a:r>
          </a:p>
          <a:p>
            <a:pPr lvl="1"/>
            <a:r>
              <a:rPr lang="en-US" b="1" dirty="0"/>
              <a:t>Cloud Infrastructure (AWS</a:t>
            </a:r>
            <a:r>
              <a:rPr lang="en-US" dirty="0"/>
              <a:t>): Used for hosting the platform, database, and AI services.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50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144" y="486135"/>
            <a:ext cx="10154856" cy="566815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6.3 Software Requirements</a:t>
            </a:r>
          </a:p>
          <a:p>
            <a:pPr lvl="1"/>
            <a:r>
              <a:rPr lang="en-US" b="1" dirty="0"/>
              <a:t>Frontend</a:t>
            </a:r>
            <a:r>
              <a:rPr lang="en-US" dirty="0"/>
              <a:t>: React.js. </a:t>
            </a:r>
          </a:p>
          <a:p>
            <a:pPr lvl="1"/>
            <a:r>
              <a:rPr lang="en-US" b="1" dirty="0"/>
              <a:t>Backend</a:t>
            </a:r>
            <a:r>
              <a:rPr lang="en-US" dirty="0"/>
              <a:t>: Spring Boot.</a:t>
            </a:r>
          </a:p>
          <a:p>
            <a:pPr lvl="1"/>
            <a:r>
              <a:rPr lang="en-IN" b="1" dirty="0"/>
              <a:t> Database</a:t>
            </a:r>
            <a:r>
              <a:rPr lang="en-IN" dirty="0"/>
              <a:t>: MongoDB</a:t>
            </a:r>
          </a:p>
          <a:p>
            <a:pPr marL="0" indent="0">
              <a:buNone/>
            </a:pPr>
            <a:r>
              <a:rPr lang="en-IN" dirty="0"/>
              <a:t>               </a:t>
            </a:r>
            <a:r>
              <a:rPr lang="en-IN" sz="1900" dirty="0"/>
              <a:t>- Programming </a:t>
            </a:r>
            <a:r>
              <a:rPr lang="en-IN" sz="1900" dirty="0" err="1"/>
              <a:t>Languages</a:t>
            </a:r>
            <a:r>
              <a:rPr lang="en-IN" sz="1900" dirty="0"/>
              <a:t>: Java, </a:t>
            </a:r>
            <a:r>
              <a:rPr lang="en-IN" sz="1900" dirty="0" err="1"/>
              <a:t>Python</a:t>
            </a:r>
            <a:r>
              <a:rPr lang="en-IN" sz="1900" dirty="0"/>
              <a:t>, JavaScript.</a:t>
            </a:r>
            <a:endParaRPr lang="en-US" sz="1900" dirty="0"/>
          </a:p>
          <a:p>
            <a:pPr marL="457200" lvl="1" indent="0">
              <a:buNone/>
            </a:pPr>
            <a:r>
              <a:rPr lang="en-US" sz="1900" dirty="0"/>
              <a:t>           - </a:t>
            </a:r>
            <a:r>
              <a:rPr lang="en-US" dirty="0" err="1"/>
              <a:t>AI/NLP</a:t>
            </a:r>
            <a:r>
              <a:rPr lang="en-US" dirty="0"/>
              <a:t>: </a:t>
            </a:r>
            <a:r>
              <a:rPr lang="en-US" dirty="0" err="1"/>
              <a:t>BERT</a:t>
            </a:r>
            <a:r>
              <a:rPr lang="en-US" dirty="0"/>
              <a:t>, 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Scikit-Learn</a:t>
            </a:r>
            <a:r>
              <a:rPr lang="en-US" dirty="0"/>
              <a:t>, TensorFlow</a:t>
            </a:r>
          </a:p>
          <a:p>
            <a:pPr marL="457200" lvl="1" indent="0">
              <a:buNone/>
            </a:pPr>
            <a:r>
              <a:rPr lang="en-US" dirty="0"/>
              <a:t>           - Authentication: JWT, </a:t>
            </a:r>
            <a:r>
              <a:rPr lang="en-US" dirty="0" err="1"/>
              <a:t>OAuth2</a:t>
            </a:r>
            <a:r>
              <a:rPr lang="en-US" dirty="0"/>
              <a:t> for secure access. </a:t>
            </a:r>
          </a:p>
          <a:p>
            <a:pPr marL="457200" lvl="1" indent="0">
              <a:buNone/>
            </a:pPr>
            <a:r>
              <a:rPr lang="en-US" dirty="0"/>
              <a:t>           - Notifications: </a:t>
            </a:r>
            <a:r>
              <a:rPr lang="en-US" dirty="0" err="1"/>
              <a:t>Firebase</a:t>
            </a:r>
            <a:r>
              <a:rPr lang="en-US" dirty="0"/>
              <a:t> and </a:t>
            </a:r>
            <a:r>
              <a:rPr lang="en-US" dirty="0" err="1"/>
              <a:t>Twilio</a:t>
            </a:r>
            <a:r>
              <a:rPr lang="en-US" dirty="0"/>
              <a:t> for </a:t>
            </a:r>
            <a:r>
              <a:rPr lang="en-US" dirty="0" err="1"/>
              <a:t>real-time alerts</a:t>
            </a:r>
            <a:r>
              <a:rPr lang="en-US" dirty="0"/>
              <a:t>.</a:t>
            </a:r>
          </a:p>
          <a:p>
            <a:pPr lvl="1"/>
            <a:r>
              <a:rPr lang="en-IN" b="1" dirty="0"/>
              <a:t>Containerization and Deployment</a:t>
            </a:r>
            <a:r>
              <a:rPr lang="en-IN" dirty="0"/>
              <a:t>: Docker, </a:t>
            </a:r>
            <a:r>
              <a:rPr lang="en-IN" dirty="0" err="1"/>
              <a:t>Kubernetes</a:t>
            </a:r>
            <a:r>
              <a:rPr lang="en-IN" dirty="0"/>
              <a:t>.</a:t>
            </a:r>
          </a:p>
          <a:p>
            <a:pPr lvl="1"/>
            <a:r>
              <a:rPr lang="en-US" b="1" dirty="0"/>
              <a:t>Cloud:</a:t>
            </a:r>
            <a:r>
              <a:rPr lang="en-US" dirty="0"/>
              <a:t> AWS</a:t>
            </a:r>
            <a:r>
              <a:rPr lang="en-US" dirty="0" err="1"/>
              <a:t> for hosting and </a:t>
            </a:r>
            <a:r>
              <a:rPr lang="en-US" dirty="0"/>
              <a:t>scalability</a:t>
            </a:r>
            <a:r>
              <a:rPr lang="en-US" dirty="0" err="1"/>
              <a:t>.  </a:t>
            </a:r>
            <a:endParaRPr lang="en-US" dirty="0"/>
          </a:p>
          <a:p>
            <a:pPr lvl="1"/>
            <a:r>
              <a:rPr lang="en-US" b="1" dirty="0"/>
              <a:t>Tools</a:t>
            </a:r>
            <a:r>
              <a:rPr lang="en-US" dirty="0"/>
              <a:t>: </a:t>
            </a:r>
            <a:r>
              <a:rPr lang="en-US" dirty="0" err="1"/>
              <a:t>Postman</a:t>
            </a:r>
            <a:r>
              <a:rPr lang="en-US" dirty="0"/>
              <a:t>, </a:t>
            </a:r>
            <a:r>
              <a:rPr lang="en-US" dirty="0" err="1"/>
              <a:t>VS Code</a:t>
            </a:r>
            <a:r>
              <a:rPr lang="en-US" dirty="0"/>
              <a:t>, or IntelliJ IDEA.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28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4592"/>
            <a:ext cx="8911687" cy="1280890"/>
          </a:xfrm>
        </p:spPr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US" b="1" dirty="0"/>
              <a:t>Educational Institutions </a:t>
            </a:r>
            <a:r>
              <a:rPr lang="en-US" dirty="0"/>
              <a:t>– Schools, universities, and colleges providing 24/7 mental health support to students. </a:t>
            </a:r>
            <a:endParaRPr lang="en-IN" dirty="0"/>
          </a:p>
          <a:p>
            <a:r>
              <a:rPr lang="en-IN" b="1" dirty="0"/>
              <a:t>Student Wellness Programs </a:t>
            </a:r>
            <a:r>
              <a:rPr lang="en-IN" dirty="0"/>
              <a:t>– Continuous mood tracking and wellness reporting for student support cells.</a:t>
            </a:r>
          </a:p>
          <a:p>
            <a:r>
              <a:rPr lang="en-US" b="1" dirty="0"/>
              <a:t>Online Counseling Platforms </a:t>
            </a:r>
            <a:r>
              <a:rPr lang="en-US" dirty="0"/>
              <a:t>– AI-based emotion detection paired with professional counselor recommendations. </a:t>
            </a:r>
          </a:p>
          <a:p>
            <a:r>
              <a:rPr lang="en-US" b="1" dirty="0"/>
              <a:t>Mental Health Monitoring Systems </a:t>
            </a:r>
            <a:r>
              <a:rPr lang="en-US" dirty="0"/>
              <a:t>– Early identification of emotional distress and crisis escalation.</a:t>
            </a:r>
          </a:p>
          <a:p>
            <a:r>
              <a:rPr lang="en-US" b="1" dirty="0"/>
              <a:t>Community Wellness Networks </a:t>
            </a:r>
            <a:r>
              <a:rPr lang="en-US" dirty="0"/>
              <a:t>– Peer support forums and gamified engagement for healthcare support ecosystems.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706" y="1709405"/>
            <a:ext cx="8915400" cy="4363278"/>
          </a:xfrm>
        </p:spPr>
        <p:txBody>
          <a:bodyPr/>
          <a:lstStyle/>
          <a:p>
            <a:r>
              <a:rPr lang="en-IN" dirty="0"/>
              <a:t>(https://github.com/piyush-ghoshi/Mindful)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351" y="1396889"/>
            <a:ext cx="8962712" cy="47839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1. </a:t>
            </a:r>
            <a:r>
              <a:rPr lang="en-US" dirty="0" err="1"/>
              <a:t>Devlin</a:t>
            </a:r>
            <a:r>
              <a:rPr lang="en-US" dirty="0"/>
              <a:t>, J., Chang, M.-W., </a:t>
            </a:r>
            <a:r>
              <a:rPr lang="en-US" dirty="0" err="1"/>
              <a:t>Lee</a:t>
            </a:r>
            <a:r>
              <a:rPr lang="en-US" dirty="0"/>
              <a:t>, K., &amp; Toutanova, K. (2019). BERT: Pre-training of Deep Bidirectional Transformers for Language Understanding. NAACL-HLT. </a:t>
            </a:r>
          </a:p>
          <a:p>
            <a:r>
              <a:rPr lang="en-US" dirty="0" err="1"/>
              <a:t>Liu</a:t>
            </a:r>
            <a:r>
              <a:rPr lang="en-US" dirty="0"/>
              <a:t>, Y., </a:t>
            </a:r>
            <a:r>
              <a:rPr lang="en-US" dirty="0" err="1"/>
              <a:t>Ott</a:t>
            </a:r>
            <a:r>
              <a:rPr lang="en-US" dirty="0"/>
              <a:t>, M., </a:t>
            </a:r>
            <a:r>
              <a:rPr lang="en-US" dirty="0" err="1"/>
              <a:t>Goyal</a:t>
            </a:r>
            <a:r>
              <a:rPr lang="en-US" dirty="0"/>
              <a:t>, N., &amp; Stoyanov, V. (2019). RoBERTa: A Robustly Optimized BERT Pretraining Approach. arXiv preprint arXiv:1907.11692.</a:t>
            </a:r>
          </a:p>
          <a:p>
            <a:r>
              <a:rPr lang="en-IN" dirty="0" err="1"/>
              <a:t>Calvo</a:t>
            </a:r>
            <a:r>
              <a:rPr lang="en-IN" dirty="0"/>
              <a:t>, R.A., Milne, D.N., Hussain, M.S., &amp; Christensen, H. (2017). </a:t>
            </a:r>
            <a:r>
              <a:rPr lang="en-IN" dirty="0" err="1"/>
              <a:t>Natural Language Processing in Mental Health Applications Using Non-Clinical Texts. </a:t>
            </a:r>
            <a:r>
              <a:rPr lang="en-IN" dirty="0"/>
              <a:t>Natural Language Engineering, 23(5), 649-685.</a:t>
            </a:r>
          </a:p>
          <a:p>
            <a:r>
              <a:rPr lang="en-US" dirty="0" err="1"/>
              <a:t>Fitzpatrick</a:t>
            </a:r>
            <a:r>
              <a:rPr lang="en-US" dirty="0"/>
              <a:t>, K.K., </a:t>
            </a:r>
            <a:r>
              <a:rPr lang="en-US" dirty="0" err="1"/>
              <a:t>Darcy</a:t>
            </a:r>
            <a:r>
              <a:rPr lang="en-US" dirty="0"/>
              <a:t>, A., &amp; </a:t>
            </a:r>
            <a:r>
              <a:rPr lang="en-US" dirty="0" err="1"/>
              <a:t>Vierhile</a:t>
            </a:r>
            <a:r>
              <a:rPr lang="en-US" dirty="0"/>
              <a:t>, M. (2017). Delivering CBT to Young Adults With Depression and Anxiety Using a Fully Automated Conversational Agent (Woebot). JMIR Mental Health. </a:t>
            </a:r>
          </a:p>
          <a:p>
            <a:r>
              <a:rPr lang="en-US" dirty="0"/>
              <a:t>Graham</a:t>
            </a:r>
            <a:r>
              <a:rPr lang="en-US" dirty="0" err="1"/>
              <a:t>, S., </a:t>
            </a:r>
            <a:r>
              <a:rPr lang="en-US" dirty="0"/>
              <a:t>Depp</a:t>
            </a:r>
            <a:r>
              <a:rPr lang="en-US" dirty="0" err="1"/>
              <a:t>, C., </a:t>
            </a:r>
            <a:r>
              <a:rPr lang="en-US" dirty="0"/>
              <a:t>Lee</a:t>
            </a:r>
            <a:r>
              <a:rPr lang="en-US" dirty="0" err="1"/>
              <a:t>, E.E., et al. (2019). Artificial Intelligence for Mental Health and Mental Illnesses: An </a:t>
            </a:r>
            <a:r>
              <a:rPr lang="en-US" dirty="0"/>
              <a:t>Overview. Current Psychiatry Reports, 21(11), 116.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351" y="1115028"/>
            <a:ext cx="8915400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latin typeface="Arial Rounded MT Bold" panose="020F0704030504030204" pitchFamily="34" charset="0"/>
              </a:rPr>
              <a:t>THANK YOU!!</a:t>
            </a:r>
          </a:p>
          <a:p>
            <a:pPr marL="0" indent="0" algn="ctr">
              <a:buNone/>
            </a:pPr>
            <a:r>
              <a:rPr lang="en-US" sz="4800" dirty="0">
                <a:latin typeface="Arial Rounded MT Bold" panose="020F0704030504030204" pitchFamily="34" charset="0"/>
              </a:rPr>
              <a:t>ANY QUERIES?</a:t>
            </a:r>
            <a:endParaRPr lang="en-IN" sz="4800" dirty="0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2867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348</TotalTime>
  <Words>1075</Words>
  <Application>Microsoft Office PowerPoint</Application>
  <PresentationFormat>Widescreen</PresentationFormat>
  <Paragraphs>127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 MT Bold</vt:lpstr>
      <vt:lpstr>Calibri</vt:lpstr>
      <vt:lpstr>Century Gothic</vt:lpstr>
      <vt:lpstr>Palatino</vt:lpstr>
      <vt:lpstr>Times New Roman</vt:lpstr>
      <vt:lpstr>Wingdings 3</vt:lpstr>
      <vt:lpstr>Wisp</vt:lpstr>
      <vt:lpstr>          MINDFUL on  AI Powered Mental Health Support Platform for Students </vt:lpstr>
      <vt:lpstr>Contents</vt:lpstr>
      <vt:lpstr>1. Introduction</vt:lpstr>
      <vt:lpstr>2. Literature Review</vt:lpstr>
      <vt:lpstr>3. Problem Statement</vt:lpstr>
      <vt:lpstr>4. Proposed Solution</vt:lpstr>
      <vt:lpstr>5. Objectives</vt:lpstr>
      <vt:lpstr>6. Theoretical Analysis</vt:lpstr>
      <vt:lpstr>6. Theoretical Analysis</vt:lpstr>
      <vt:lpstr>PowerPoint Presentation</vt:lpstr>
      <vt:lpstr>Applications</vt:lpstr>
      <vt:lpstr>GitHub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Synopsis Presentation on  Title of Project</dc:title>
  <dc:creator>Deepak Singh Chouhan</dc:creator>
  <cp:lastModifiedBy>Yash Jhanwar</cp:lastModifiedBy>
  <cp:revision>36</cp:revision>
  <dcterms:created xsi:type="dcterms:W3CDTF">2024-09-26T07:25:32Z</dcterms:created>
  <dcterms:modified xsi:type="dcterms:W3CDTF">2026-06-14T19:25:31Z</dcterms:modified>
</cp:coreProperties>
</file>